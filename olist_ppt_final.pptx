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8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67-41F8-8818-95634A706BFC}"/>
              </c:ext>
            </c:extLst>
          </c:dPt>
          <c:dPt>
            <c:idx val="1"/>
            <c:bubble3D val="0"/>
            <c:spPr>
              <a:solidFill>
                <a:srgbClr val="E2E1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67-41F8-8818-95634A706BFC}"/>
              </c:ext>
            </c:extLst>
          </c:dPt>
          <c:cat>
            <c:strRef>
              <c:f>Sheet1!$A$2:$A$3</c:f>
              <c:strCache>
                <c:ptCount val="2"/>
                <c:pt idx="0">
                  <c:v>Entregues</c:v>
                </c:pt>
                <c:pt idx="1">
                  <c:v>Outros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96.48</c:v>
                </c:pt>
                <c:pt idx="1">
                  <c:v>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67-41F8-8818-95634A706B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0A8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7BF-47FF-8B9B-55B69CE7A082}"/>
              </c:ext>
            </c:extLst>
          </c:dPt>
          <c:dPt>
            <c:idx val="1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77BF-47FF-8B9B-55B69CE7A082}"/>
              </c:ext>
            </c:extLst>
          </c:dPt>
          <c:dPt>
            <c:idx val="2"/>
            <c:invertIfNegative val="0"/>
            <c:bubble3D val="0"/>
            <c:spPr>
              <a:solidFill>
                <a:srgbClr val="A0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77BF-47FF-8B9B-55B69CE7A08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77%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7BF-47FF-8B9B-55B69CE7A0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8%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7BF-47FF-8B9B-55B69CE7A0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15%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7BF-47FF-8B9B-55B69CE7A08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Neutros</c:v>
                </c:pt>
                <c:pt idx="2">
                  <c:v>Detratores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76470</c:v>
                </c:pt>
                <c:pt idx="1">
                  <c:v>8179</c:v>
                </c:pt>
                <c:pt idx="2">
                  <c:v>14575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7BF-47FF-8B9B-55B69CE7A0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 sz="900">
          <a:latin typeface="Calibri (Body)"/>
        </a:defRPr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 algn="r" rtl="0">
              <a:defRPr lang="pt-BR" sz="900" b="0" i="0" u="none" strike="noStrike" kern="1200" baseline="0" dirty="0">
                <a:solidFill>
                  <a:srgbClr val="0D2137"/>
                </a:solidFill>
                <a:latin typeface="Arial"/>
                <a:ea typeface="+mn-ea"/>
                <a:cs typeface="+mn-cs"/>
              </a:defRPr>
            </a:pPr>
            <a:r>
              <a:rPr lang="pt-BR" sz="900" b="0" i="0" u="none" strike="noStrike" kern="1200" baseline="0" dirty="0">
                <a:solidFill>
                  <a:srgbClr val="0D2137"/>
                </a:solidFill>
                <a:latin typeface="Arial"/>
                <a:ea typeface="+mn-ea"/>
                <a:cs typeface="+mn-cs"/>
              </a:rPr>
              <a:t>(R$/mil)</a:t>
            </a:r>
          </a:p>
        </c:rich>
      </c:tx>
      <c:layout>
        <c:manualLayout>
          <c:xMode val="edge"/>
          <c:yMode val="edge"/>
          <c:x val="0.73975390173002564"/>
          <c:y val="5.38249548163049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 algn="r" rtl="0">
            <a:defRPr lang="pt-BR" sz="900" b="0" i="0" u="none" strike="noStrike" kern="1200" baseline="0" dirty="0">
              <a:solidFill>
                <a:srgbClr val="0D2137"/>
              </a:solidFill>
              <a:latin typeface="Arial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015346429509646"/>
          <c:y val="0.29835097367132474"/>
          <c:w val="0.33284652169799211"/>
          <c:h val="0.5847743166723166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Pagamento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C1-412C-91BD-84F7D1F28A1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6C1-412C-91BD-84F7D1F28A1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6C1-412C-91BD-84F7D1F28A1F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t" anchorCtr="0"/>
                  <a:lstStyle/>
                  <a:p>
                    <a:pPr>
                      <a:defRPr sz="900" b="0" i="0" u="none" strike="noStrike" kern="120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 (Body)"/>
                        <a:ea typeface="+mn-ea"/>
                        <a:cs typeface="+mn-cs"/>
                      </a:defRPr>
                    </a:pPr>
                    <a:fld id="{4E310735-CB4A-47B3-B9B4-9684E3D08C01}" type="CELLRANGE">
                      <a:rPr lang="en-US"/>
                      <a:pPr>
                        <a:defRPr sz="900">
                          <a:ln>
                            <a:noFill/>
                          </a:ln>
                          <a:solidFill>
                            <a:schemeClr val="tx1"/>
                          </a:solidFill>
                        </a:defRPr>
                      </a:pPr>
                      <a:t>[CELLRANGE]</a:t>
                    </a:fld>
                    <a:endParaRPr lang="en-US" baseline="0"/>
                  </a:p>
                  <a:p>
                    <a:pPr>
                      <a:defRPr sz="900">
                        <a:ln>
                          <a:noFill/>
                        </a:ln>
                        <a:solidFill>
                          <a:schemeClr val="tx1"/>
                        </a:solidFill>
                      </a:defRPr>
                    </a:pPr>
                    <a:fld id="{70A5A52B-F1A8-4433-A246-F4018E9FCBCE}" type="PERCENTAGE">
                      <a:rPr lang="en-US"/>
                      <a:pPr>
                        <a:defRPr sz="900">
                          <a:ln>
                            <a:noFill/>
                          </a:ln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pt-BR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t" anchorCtr="0"/>
                <a:lstStyle/>
                <a:p>
                  <a:pPr>
                    <a:defRPr sz="900" b="0" i="0" u="none" strike="noStrike" kern="1200" baseline="0">
                      <a:ln>
                        <a:noFill/>
                      </a:ln>
                      <a:solidFill>
                        <a:schemeClr val="tx1"/>
                      </a:solidFill>
                      <a:latin typeface="Calibri (Body)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6C1-412C-91BD-84F7D1F28A1F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t" anchorCtr="0"/>
                  <a:lstStyle/>
                  <a:p>
                    <a:pPr>
                      <a:defRPr sz="900" b="0" i="0" u="none" strike="noStrike" kern="120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 (Body)"/>
                        <a:ea typeface="+mn-ea"/>
                        <a:cs typeface="+mn-cs"/>
                      </a:defRPr>
                    </a:pPr>
                    <a:fld id="{984C02E3-C132-4032-B8CC-E7A22BE0A09F}" type="CELLRANGE">
                      <a:rPr lang="en-US"/>
                      <a:pPr>
                        <a:defRPr sz="900">
                          <a:ln>
                            <a:noFill/>
                          </a:ln>
                          <a:solidFill>
                            <a:schemeClr val="tx1"/>
                          </a:solidFill>
                        </a:defRPr>
                      </a:pPr>
                      <a:t>[CELLRANGE]</a:t>
                    </a:fld>
                    <a:endParaRPr lang="en-US" baseline="0"/>
                  </a:p>
                  <a:p>
                    <a:pPr>
                      <a:defRPr sz="900">
                        <a:ln>
                          <a:noFill/>
                        </a:ln>
                        <a:solidFill>
                          <a:schemeClr val="tx1"/>
                        </a:solidFill>
                      </a:defRPr>
                    </a:pPr>
                    <a:fld id="{0568DD92-8A0B-4B0E-AB70-6BD13D2015DA}" type="PERCENTAGE">
                      <a:rPr lang="en-US"/>
                      <a:pPr>
                        <a:defRPr sz="900">
                          <a:ln>
                            <a:noFill/>
                          </a:ln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pt-BR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t" anchorCtr="0"/>
                <a:lstStyle/>
                <a:p>
                  <a:pPr>
                    <a:defRPr sz="900" b="0" i="0" u="none" strike="noStrike" kern="1200" baseline="0">
                      <a:ln>
                        <a:noFill/>
                      </a:ln>
                      <a:solidFill>
                        <a:schemeClr val="tx1"/>
                      </a:solidFill>
                      <a:latin typeface="Calibri (Body)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66C1-412C-91BD-84F7D1F28A1F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anchor="t" anchorCtr="0"/>
                  <a:lstStyle/>
                  <a:p>
                    <a:pPr>
                      <a:defRPr sz="900" b="0" i="0" u="none" strike="noStrike" kern="120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 (Body)"/>
                        <a:ea typeface="+mn-ea"/>
                        <a:cs typeface="+mn-cs"/>
                      </a:defRPr>
                    </a:pPr>
                    <a:fld id="{3948435C-DD53-4556-96FE-ED60114E0FDA}" type="CELLRANGE">
                      <a:rPr lang="en-US"/>
                      <a:pPr>
                        <a:defRPr sz="900">
                          <a:ln>
                            <a:noFill/>
                          </a:ln>
                          <a:solidFill>
                            <a:schemeClr val="tx1"/>
                          </a:solidFill>
                        </a:defRPr>
                      </a:pPr>
                      <a:t>[CELLRANGE]</a:t>
                    </a:fld>
                    <a:endParaRPr lang="en-US" baseline="0"/>
                  </a:p>
                  <a:p>
                    <a:pPr>
                      <a:defRPr sz="900">
                        <a:ln>
                          <a:noFill/>
                        </a:ln>
                        <a:solidFill>
                          <a:schemeClr val="tx1"/>
                        </a:solidFill>
                      </a:defRPr>
                    </a:pPr>
                    <a:fld id="{44C25371-F992-40F9-9A64-7F83F5AF4887}" type="PERCENTAGE">
                      <a:rPr lang="en-US"/>
                      <a:pPr>
                        <a:defRPr sz="900">
                          <a:ln>
                            <a:noFill/>
                          </a:ln>
                          <a:solidFill>
                            <a:schemeClr val="tx1"/>
                          </a:solidFill>
                        </a:defRPr>
                      </a:pPr>
                      <a:t>[PERCENTAGE]</a:t>
                    </a:fld>
                    <a:endParaRPr lang="pt-BR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t" anchorCtr="0"/>
                <a:lstStyle/>
                <a:p>
                  <a:pPr>
                    <a:defRPr sz="900" b="0" i="0" u="none" strike="noStrike" kern="1200" baseline="0">
                      <a:ln>
                        <a:noFill/>
                      </a:ln>
                      <a:solidFill>
                        <a:schemeClr val="tx1"/>
                      </a:solidFill>
                      <a:latin typeface="Calibri (Body)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66C1-412C-91BD-84F7D1F28A1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t" anchorCtr="0"/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solidFill>
                      <a:schemeClr val="tx1"/>
                    </a:solidFill>
                    <a:latin typeface="Calibri (Body)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Crédito</c:v>
                </c:pt>
                <c:pt idx="1">
                  <c:v>Boleto</c:v>
                </c:pt>
                <c:pt idx="2">
                  <c:v>Outros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78.459999999999994</c:v>
                </c:pt>
                <c:pt idx="1">
                  <c:v>17.96</c:v>
                </c:pt>
                <c:pt idx="2">
                  <c:v>3.5799999999999983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Sheet1!$C$2:$C$4</c15:f>
                <c15:dlblRangeCache>
                  <c:ptCount val="3"/>
                  <c:pt idx="0">
                    <c:v> 12.101 </c:v>
                  </c:pt>
                  <c:pt idx="1">
                    <c:v> 2.770 </c:v>
                  </c:pt>
                  <c:pt idx="2">
                    <c:v> 551 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66C1-412C-91BD-84F7D1F28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93157109236472"/>
          <c:y val="0.29233944781347698"/>
          <c:w val="0.23288534245719286"/>
          <c:h val="0.54322653184805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Calibri (Body)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>
          <a:latin typeface="Calibri (Body)"/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pt-BR" sz="1200" b="0" i="0" u="none" strike="noStrike" dirty="0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Receita Mensal (R$/mil) · </a:t>
            </a:r>
            <a:r>
              <a:rPr lang="pt-BR" sz="1200" b="0" i="0" u="none" strike="noStrike" dirty="0" err="1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</a:t>
            </a:r>
            <a:r>
              <a:rPr lang="pt-BR" sz="1200" b="0" i="0" u="none" strike="noStrike" dirty="0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/17 em destaque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(R$k)</c:v>
                </c:pt>
              </c:strCache>
            </c:strRef>
          </c:tx>
          <c:spPr>
            <a:solidFill>
              <a:srgbClr val="1B5F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B9-4191-AA6E-75F3E48A835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7B9-4191-AA6E-75F3E48A835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7B9-4191-AA6E-75F3E48A835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7B9-4191-AA6E-75F3E48A835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7B9-4191-AA6E-75F3E48A835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7B9-4191-AA6E-75F3E48A835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7B9-4191-AA6E-75F3E48A835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7B9-4191-AA6E-75F3E48A835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47B9-4191-AA6E-75F3E48A835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47B9-4191-AA6E-75F3E48A8358}"/>
              </c:ext>
            </c:extLst>
          </c:dPt>
          <c:dPt>
            <c:idx val="10"/>
            <c:invertIfNegative val="0"/>
            <c:bubble3D val="0"/>
            <c:spPr>
              <a:solidFill>
                <a:srgbClr val="0066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7B9-4191-AA6E-75F3E48A8358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47B9-4191-AA6E-75F3E48A8358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47B9-4191-AA6E-75F3E48A8358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47B9-4191-AA6E-75F3E48A8358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47B9-4191-AA6E-75F3E48A8358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47B9-4191-AA6E-75F3E48A8358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47B9-4191-AA6E-75F3E48A8358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47B9-4191-AA6E-75F3E48A8358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47B9-4191-AA6E-75F3E48A8358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47B9-4191-AA6E-75F3E48A835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jan/17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  <c:pt idx="12">
                  <c:v>jan/18</c:v>
                </c:pt>
                <c:pt idx="13">
                  <c:v>fev</c:v>
                </c:pt>
                <c:pt idx="14">
                  <c:v>mar</c:v>
                </c:pt>
                <c:pt idx="15">
                  <c:v>abr</c:v>
                </c:pt>
                <c:pt idx="16">
                  <c:v>mai</c:v>
                </c:pt>
                <c:pt idx="17">
                  <c:v>jun</c:v>
                </c:pt>
                <c:pt idx="18">
                  <c:v>jul</c:v>
                </c:pt>
                <c:pt idx="19">
                  <c:v>ago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127.5</c:v>
                </c:pt>
                <c:pt idx="1">
                  <c:v>271.3</c:v>
                </c:pt>
                <c:pt idx="2">
                  <c:v>414.4</c:v>
                </c:pt>
                <c:pt idx="3">
                  <c:v>391</c:v>
                </c:pt>
                <c:pt idx="4">
                  <c:v>567.1</c:v>
                </c:pt>
                <c:pt idx="5">
                  <c:v>490.2</c:v>
                </c:pt>
                <c:pt idx="6">
                  <c:v>566.4</c:v>
                </c:pt>
                <c:pt idx="7">
                  <c:v>646</c:v>
                </c:pt>
                <c:pt idx="8">
                  <c:v>701.2</c:v>
                </c:pt>
                <c:pt idx="9">
                  <c:v>751.1</c:v>
                </c:pt>
                <c:pt idx="10">
                  <c:v>1153.5</c:v>
                </c:pt>
                <c:pt idx="11">
                  <c:v>843.2</c:v>
                </c:pt>
                <c:pt idx="12">
                  <c:v>1078.5999999999999</c:v>
                </c:pt>
                <c:pt idx="13">
                  <c:v>966.5</c:v>
                </c:pt>
                <c:pt idx="14">
                  <c:v>1120.7</c:v>
                </c:pt>
                <c:pt idx="15">
                  <c:v>1132.9000000000001</c:v>
                </c:pt>
                <c:pt idx="16">
                  <c:v>1128.8</c:v>
                </c:pt>
                <c:pt idx="17">
                  <c:v>1012.1</c:v>
                </c:pt>
                <c:pt idx="18">
                  <c:v>1027.9000000000001</c:v>
                </c:pt>
                <c:pt idx="19">
                  <c:v>985.4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47B9-4191-AA6E-75F3E48A8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ln>
                  <a:noFill/>
                </a:ln>
                <a:solidFill>
                  <a:srgbClr val="6B6A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pt-BR" sz="1200" b="0" i="0" u="none" strike="noStrike" dirty="0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5 Categorias (R$/mil)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7338159434616125"/>
          <c:y val="0.18592435560939499"/>
          <c:w val="0.61309026712570025"/>
          <c:h val="0.760656840971801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(R$k)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2137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Beleza / Saúde</c:v>
                </c:pt>
                <c:pt idx="1">
                  <c:v>Relogios / Presentes</c:v>
                </c:pt>
                <c:pt idx="2">
                  <c:v>Cama / Mesa / Banho</c:v>
                </c:pt>
                <c:pt idx="3">
                  <c:v>Esporte / Lazer</c:v>
                </c:pt>
                <c:pt idx="4">
                  <c:v>Acessórios Informática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1412.09</c:v>
                </c:pt>
                <c:pt idx="1">
                  <c:v>1264.3330000000001</c:v>
                </c:pt>
                <c:pt idx="2">
                  <c:v>1225.2090000000001</c:v>
                </c:pt>
                <c:pt idx="3">
                  <c:v>1118.2570000000001</c:v>
                </c:pt>
                <c:pt idx="4">
                  <c:v>1032.7239999999999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0-49AF-8DCC-5932C0358E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0D2137"/>
                </a:solidFill>
                <a:latin typeface="Arial"/>
              </a:rPr>
              <a:t>Ticket Médio por Nº de Parcelas (R$)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Médio (R$)</c:v>
                </c:pt>
              </c:strCache>
            </c:strRef>
          </c:tx>
          <c:spPr>
            <a:ln w="38100" cap="flat">
              <a:solidFill>
                <a:srgbClr val="C47F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9525" cap="flat">
                <a:solidFill>
                  <a:srgbClr val="C47F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solidFill>
                <a:schemeClr val="bg1">
                  <a:alpha val="70000"/>
                </a:schemeClr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1x</c:v>
                </c:pt>
                <c:pt idx="1">
                  <c:v>2x</c:v>
                </c:pt>
                <c:pt idx="2">
                  <c:v>3x</c:v>
                </c:pt>
                <c:pt idx="3">
                  <c:v>4x</c:v>
                </c:pt>
                <c:pt idx="4">
                  <c:v>5x</c:v>
                </c:pt>
                <c:pt idx="5">
                  <c:v>6x</c:v>
                </c:pt>
                <c:pt idx="6">
                  <c:v>7x</c:v>
                </c:pt>
                <c:pt idx="7">
                  <c:v>8x</c:v>
                </c:pt>
                <c:pt idx="8">
                  <c:v>9x</c:v>
                </c:pt>
                <c:pt idx="9">
                  <c:v>10x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121.948688900099</c:v>
                </c:pt>
                <c:pt idx="1">
                  <c:v>128.670918519747</c:v>
                </c:pt>
                <c:pt idx="2">
                  <c:v>143.87035281363799</c:v>
                </c:pt>
                <c:pt idx="3">
                  <c:v>165.59383028189399</c:v>
                </c:pt>
                <c:pt idx="4">
                  <c:v>184.67889783889899</c:v>
                </c:pt>
                <c:pt idx="5">
                  <c:v>211.29644999999999</c:v>
                </c:pt>
                <c:pt idx="6">
                  <c:v>187.698480769231</c:v>
                </c:pt>
                <c:pt idx="7">
                  <c:v>308.54521106258801</c:v>
                </c:pt>
                <c:pt idx="8">
                  <c:v>198.60713592233</c:v>
                </c:pt>
                <c:pt idx="9">
                  <c:v>413.99143079618199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5AC-4A09-9AF6-B84E63FCFD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pPr>
            <a:r>
              <a:rPr lang="pt-BR" sz="1100" b="0" i="0" u="none" strike="noStrike" dirty="0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Ticket Médio por Categorias</a:t>
            </a:r>
            <a:r>
              <a:rPr lang="pt-BR" sz="1100" b="0" i="0" u="none" strike="noStrike" baseline="0" dirty="0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0" i="0" u="none" strike="noStrike" dirty="0">
                <a:solidFill>
                  <a:srgbClr val="0D2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(R$)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7338159434616125"/>
          <c:y val="0.18592435560939499"/>
          <c:w val="0.61309026712570025"/>
          <c:h val="0.760656840971801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(R$k)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2137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pcs</c:v>
                </c:pt>
                <c:pt idx="1">
                  <c:v>portateis_casa_forno_e_cafe</c:v>
                </c:pt>
                <c:pt idx="2">
                  <c:v>eletrodomesticos</c:v>
                </c:pt>
                <c:pt idx="3">
                  <c:v>agro_industria_e_comercio</c:v>
                </c:pt>
                <c:pt idx="4">
                  <c:v>instrumentos_musicais</c:v>
                </c:pt>
                <c:pt idx="5">
                  <c:v>eletroportateis</c:v>
                </c:pt>
                <c:pt idx="6">
                  <c:v>portateis_cozinha_e_preparadores_de_alimentos</c:v>
                </c:pt>
                <c:pt idx="7">
                  <c:v>telefonia_fixa</c:v>
                </c:pt>
                <c:pt idx="8">
                  <c:v>construcao_ferramentas_seguranca</c:v>
                </c:pt>
                <c:pt idx="9">
                  <c:v>moveis_escritorio</c:v>
                </c:pt>
              </c:strCache>
            </c:strRef>
          </c:cat>
          <c:val>
            <c:numRef>
              <c:f>Sheet1!$B$2:$B$11</c:f>
              <c:numCache>
                <c:formatCode>_-* #,##0_-;\-* #,##0_-;_-* "-"??_-;_-@_-</c:formatCode>
                <c:ptCount val="10"/>
                <c:pt idx="0">
                  <c:v>1290.11163841808</c:v>
                </c:pt>
                <c:pt idx="1">
                  <c:v>683.97083333333296</c:v>
                </c:pt>
                <c:pt idx="2">
                  <c:v>520.74237885462503</c:v>
                </c:pt>
                <c:pt idx="3">
                  <c:v>430.527118644067</c:v>
                </c:pt>
                <c:pt idx="4">
                  <c:v>330.91181669394399</c:v>
                </c:pt>
                <c:pt idx="5">
                  <c:v>325.30126436781501</c:v>
                </c:pt>
                <c:pt idx="6">
                  <c:v>325.23461538461498</c:v>
                </c:pt>
                <c:pt idx="7">
                  <c:v>282.15349056603702</c:v>
                </c:pt>
                <c:pt idx="8">
                  <c:v>267.320880503144</c:v>
                </c:pt>
                <c:pt idx="9">
                  <c:v>267.31368421052599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E7-43C0-9E11-47DE6A1F9F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D2137"/>
                </a:solidFill>
                <a:latin typeface="Arial"/>
              </a:rPr>
              <a:t>Volume de Pedidos por Estado (Top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spPr>
            <a:solidFill>
              <a:srgbClr val="1B5F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B5A-435B-A88F-480F800A5917}"/>
              </c:ext>
            </c:extLst>
          </c:dPt>
          <c:dPt>
            <c:idx val="1"/>
            <c:invertIfNegative val="0"/>
            <c:bubble3D val="0"/>
            <c:spPr>
              <a:solidFill>
                <a:srgbClr val="2E8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5A-435B-A88F-480F800A5917}"/>
              </c:ext>
            </c:extLst>
          </c:dPt>
          <c:dPt>
            <c:idx val="2"/>
            <c:invertIfNegative val="0"/>
            <c:bubble3D val="0"/>
            <c:spPr>
              <a:solidFill>
                <a:srgbClr val="2E8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5A-435B-A88F-480F800A5917}"/>
              </c:ext>
            </c:extLst>
          </c:dPt>
          <c:dPt>
            <c:idx val="3"/>
            <c:invertIfNegative val="0"/>
            <c:bubble3D val="0"/>
            <c:spPr>
              <a:solidFill>
                <a:srgbClr val="5CA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5A-435B-A88F-480F800A5917}"/>
              </c:ext>
            </c:extLst>
          </c:dPt>
          <c:dPt>
            <c:idx val="4"/>
            <c:invertIfNegative val="0"/>
            <c:bubble3D val="0"/>
            <c:spPr>
              <a:solidFill>
                <a:srgbClr val="5CA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B5A-435B-A88F-480F800A5917}"/>
              </c:ext>
            </c:extLst>
          </c:dPt>
          <c:dPt>
            <c:idx val="5"/>
            <c:invertIfNegative val="0"/>
            <c:bubble3D val="0"/>
            <c:spPr>
              <a:solidFill>
                <a:srgbClr val="5CA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B5A-435B-A88F-480F800A5917}"/>
              </c:ext>
            </c:extLst>
          </c:dPt>
          <c:dPt>
            <c:idx val="6"/>
            <c:invertIfNegative val="0"/>
            <c:bubble3D val="0"/>
            <c:spPr>
              <a:solidFill>
                <a:srgbClr val="96C4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B5A-435B-A88F-480F800A5917}"/>
              </c:ext>
            </c:extLst>
          </c:dPt>
          <c:dPt>
            <c:idx val="7"/>
            <c:invertIfNegative val="0"/>
            <c:bubble3D val="0"/>
            <c:spPr>
              <a:solidFill>
                <a:srgbClr val="96C4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B5A-435B-A88F-480F800A5917}"/>
              </c:ext>
            </c:extLst>
          </c:dPt>
          <c:dPt>
            <c:idx val="8"/>
            <c:invertIfNegative val="0"/>
            <c:bubble3D val="0"/>
            <c:spPr>
              <a:solidFill>
                <a:srgbClr val="96C4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B5A-435B-A88F-480F800A5917}"/>
              </c:ext>
            </c:extLst>
          </c:dPt>
          <c:dPt>
            <c:idx val="9"/>
            <c:invertIfNegative val="0"/>
            <c:bubble3D val="0"/>
            <c:spPr>
              <a:solidFill>
                <a:srgbClr val="96C4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B5A-435B-A88F-480F800A591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SP</c:v>
                </c:pt>
                <c:pt idx="1">
                  <c:v>RJ</c:v>
                </c:pt>
                <c:pt idx="2">
                  <c:v>MG</c:v>
                </c:pt>
                <c:pt idx="3">
                  <c:v>RS</c:v>
                </c:pt>
                <c:pt idx="4">
                  <c:v>PR</c:v>
                </c:pt>
                <c:pt idx="5">
                  <c:v>SC</c:v>
                </c:pt>
                <c:pt idx="6">
                  <c:v>BA</c:v>
                </c:pt>
                <c:pt idx="7">
                  <c:v>DF</c:v>
                </c:pt>
                <c:pt idx="8">
                  <c:v>ES</c:v>
                </c:pt>
                <c:pt idx="9">
                  <c:v>GO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41746</c:v>
                </c:pt>
                <c:pt idx="1">
                  <c:v>12852</c:v>
                </c:pt>
                <c:pt idx="2">
                  <c:v>11635</c:v>
                </c:pt>
                <c:pt idx="3">
                  <c:v>5466</c:v>
                </c:pt>
                <c:pt idx="4">
                  <c:v>5045</c:v>
                </c:pt>
                <c:pt idx="5">
                  <c:v>3637</c:v>
                </c:pt>
                <c:pt idx="6">
                  <c:v>3380</c:v>
                </c:pt>
                <c:pt idx="7">
                  <c:v>2140</c:v>
                </c:pt>
                <c:pt idx="8">
                  <c:v>2033</c:v>
                </c:pt>
                <c:pt idx="9">
                  <c:v>2020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B5A-435B-A88F-480F800A59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D2137"/>
                </a:solidFill>
                <a:latin typeface="Arial"/>
              </a:rPr>
              <a:t>Lead Time por Etapa (dias médios)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Dias</c:v>
                </c:pt>
              </c:strCache>
            </c:strRef>
          </c:tx>
          <c:spPr>
            <a:solidFill>
              <a:srgbClr val="0A8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3E5-4273-8E09-C93639260A62}"/>
              </c:ext>
            </c:extLst>
          </c:dPt>
          <c:dPt>
            <c:idx val="1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E5-4273-8E09-C93639260A62}"/>
              </c:ext>
            </c:extLst>
          </c:dPt>
          <c:dPt>
            <c:idx val="2"/>
            <c:invertIfNegative val="0"/>
            <c:bubble3D val="0"/>
            <c:spPr>
              <a:solidFill>
                <a:srgbClr val="A0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E5-4273-8E09-C93639260A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Compra → Aprovação</c:v>
                </c:pt>
                <c:pt idx="1">
                  <c:v>Aprovação → Postagem</c:v>
                </c:pt>
                <c:pt idx="2">
                  <c:v>Postagem → Entrega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2.71</c:v>
                </c:pt>
                <c:pt idx="2">
                  <c:v>9.2799999999999994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E5-4273-8E09-C93639260A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D2137"/>
                </a:solidFill>
                <a:latin typeface="Arial"/>
              </a:rPr>
              <a:t>Taxa de Atraso por Estado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Atraso</c:v>
                </c:pt>
              </c:strCache>
            </c:strRef>
          </c:tx>
          <c:spPr>
            <a:solidFill>
              <a:srgbClr val="A0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48-40F1-9E19-450E7573A19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A48-40F1-9E19-450E7573A19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A48-40F1-9E19-450E7573A191}"/>
              </c:ext>
            </c:extLst>
          </c:dPt>
          <c:dPt>
            <c:idx val="3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48-40F1-9E19-450E7573A191}"/>
              </c:ext>
            </c:extLst>
          </c:dPt>
          <c:dPt>
            <c:idx val="4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A48-40F1-9E19-450E7573A191}"/>
              </c:ext>
            </c:extLst>
          </c:dPt>
          <c:dPt>
            <c:idx val="5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A48-40F1-9E19-450E7573A191}"/>
              </c:ext>
            </c:extLst>
          </c:dPt>
          <c:dPt>
            <c:idx val="6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A48-40F1-9E19-450E7573A191}"/>
              </c:ext>
            </c:extLst>
          </c:dPt>
          <c:dPt>
            <c:idx val="7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A48-40F1-9E19-450E7573A1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AL</c:v>
                </c:pt>
                <c:pt idx="1">
                  <c:v>MA</c:v>
                </c:pt>
                <c:pt idx="2">
                  <c:v>SE</c:v>
                </c:pt>
                <c:pt idx="3">
                  <c:v>PI</c:v>
                </c:pt>
                <c:pt idx="4">
                  <c:v>CE</c:v>
                </c:pt>
                <c:pt idx="5">
                  <c:v>RR</c:v>
                </c:pt>
                <c:pt idx="6">
                  <c:v>BA</c:v>
                </c:pt>
                <c:pt idx="7">
                  <c:v>RJ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</c:v>
                </c:pt>
                <c:pt idx="1">
                  <c:v>17</c:v>
                </c:pt>
                <c:pt idx="2">
                  <c:v>15</c:v>
                </c:pt>
                <c:pt idx="3">
                  <c:v>14</c:v>
                </c:pt>
                <c:pt idx="4">
                  <c:v>14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A48-40F1-9E19-450E7573A1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8825995807127882E-2"/>
          <c:y val="0.20202020202020202"/>
          <c:w val="0.94234800838574428"/>
          <c:h val="0.58358585858585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 Média</c:v>
                </c:pt>
              </c:strCache>
            </c:strRef>
          </c:tx>
          <c:spPr>
            <a:solidFill>
              <a:srgbClr val="0A8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81-4F55-8F18-E86083534574}"/>
              </c:ext>
            </c:extLst>
          </c:dPt>
          <c:dPt>
            <c:idx val="1"/>
            <c:invertIfNegative val="0"/>
            <c:bubble3D val="0"/>
            <c:spPr>
              <a:solidFill>
                <a:srgbClr val="A0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81-4F55-8F18-E8608353457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4,2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081-4F55-8F18-E860835345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2,6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081-4F55-8F18-E8608353457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Prazo</c:v>
                </c:pt>
                <c:pt idx="1">
                  <c:v>Atrasado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81-4F55-8F18-E860835345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pt-BR" sz="1200" b="0" i="0" u="none" strike="noStrike" dirty="0">
                <a:solidFill>
                  <a:srgbClr val="0D2137"/>
                </a:solidFill>
                <a:latin typeface="Arial"/>
              </a:rPr>
              <a:t>Distribuição de Avaliações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A0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16-45F2-9DAA-156097C5734B}"/>
              </c:ext>
            </c:extLst>
          </c:dPt>
          <c:dPt>
            <c:idx val="1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16-45F2-9DAA-156097C5734B}"/>
              </c:ext>
            </c:extLst>
          </c:dPt>
          <c:dPt>
            <c:idx val="2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16-45F2-9DAA-156097C5734B}"/>
              </c:ext>
            </c:extLst>
          </c:dPt>
          <c:dPt>
            <c:idx val="3"/>
            <c:invertIfNegative val="0"/>
            <c:bubble3D val="0"/>
            <c:spPr>
              <a:solidFill>
                <a:srgbClr val="2E8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016-45F2-9DAA-156097C5734B}"/>
              </c:ext>
            </c:extLst>
          </c:dPt>
          <c:dPt>
            <c:idx val="4"/>
            <c:invertIfNegative val="0"/>
            <c:bubble3D val="0"/>
            <c:spPr>
              <a:solidFill>
                <a:srgbClr val="0A8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016-45F2-9DAA-156097C5734B}"/>
              </c:ext>
            </c:extLst>
          </c:dPt>
          <c:dLbls>
            <c:numFmt formatCode="#,##0" sourceLinked="0"/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★ 1</c:v>
                </c:pt>
                <c:pt idx="1">
                  <c:v>★ 2</c:v>
                </c:pt>
                <c:pt idx="2">
                  <c:v>★ 3</c:v>
                </c:pt>
                <c:pt idx="3">
                  <c:v>★ 4</c:v>
                </c:pt>
                <c:pt idx="4">
                  <c:v>★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11424</c:v>
                </c:pt>
                <c:pt idx="1">
                  <c:v>3151</c:v>
                </c:pt>
                <c:pt idx="2">
                  <c:v>8179</c:v>
                </c:pt>
                <c:pt idx="3">
                  <c:v>19142</c:v>
                </c:pt>
                <c:pt idx="4">
                  <c:v>57328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016-45F2-9DAA-156097C573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 sz="1100" b="0" i="0" u="none" strike="noStrike" kern="1200" baseline="0" dirty="0">
                <a:solidFill>
                  <a:srgbClr val="0D2137"/>
                </a:solidFill>
                <a:latin typeface="Arial"/>
              </a:rPr>
              <a:t>Distribuição de Avaliações %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3.4743759180236297E-2"/>
          <c:y val="0.21965101949574256"/>
          <c:w val="0.93051248163952738"/>
          <c:h val="0.611920988605002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0A8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3AC-4449-B1F0-EEADF0822252}"/>
              </c:ext>
            </c:extLst>
          </c:dPt>
          <c:dPt>
            <c:idx val="1"/>
            <c:invertIfNegative val="0"/>
            <c:bubble3D val="0"/>
            <c:spPr>
              <a:solidFill>
                <a:srgbClr val="C4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3AC-4449-B1F0-EEADF0822252}"/>
              </c:ext>
            </c:extLst>
          </c:dPt>
          <c:dPt>
            <c:idx val="2"/>
            <c:invertIfNegative val="0"/>
            <c:bubble3D val="0"/>
            <c:spPr>
              <a:solidFill>
                <a:srgbClr val="A0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23AC-4449-B1F0-EEADF082225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77%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AC-4449-B1F0-EEADF082225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8%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AC-4449-B1F0-EEADF082225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15%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AC-4449-B1F0-EEADF082225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Neutros</c:v>
                </c:pt>
                <c:pt idx="2">
                  <c:v>Detratores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76470</c:v>
                </c:pt>
                <c:pt idx="1">
                  <c:v>8179</c:v>
                </c:pt>
                <c:pt idx="2">
                  <c:v>14575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3AC-4449-B1F0-EEADF08222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 sz="900">
          <a:latin typeface="Calibri (Body)"/>
        </a:defRPr>
      </a:pPr>
      <a:endParaRPr lang="pt-B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96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A8A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5878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OLIST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01890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kern="0" spc="400" dirty="0">
                <a:solidFill>
                  <a:srgbClr val="7BAFD4"/>
                </a:solidFill>
                <a:ea typeface="Calibri" pitchFamily="34" charset="-122"/>
                <a:cs typeface="Calibri" pitchFamily="34" charset="-120"/>
              </a:rPr>
              <a:t>E-COMMERCE BRASIL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86414"/>
            <a:ext cx="4114800" cy="36576"/>
          </a:xfrm>
          <a:prstGeom prst="rect">
            <a:avLst/>
          </a:prstGeom>
          <a:solidFill>
            <a:srgbClr val="0A8A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81443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0C4E2"/>
                </a:solidFill>
                <a:ea typeface="Calibri" pitchFamily="34" charset="-122"/>
                <a:cs typeface="Calibri" pitchFamily="34" charset="-120"/>
              </a:rPr>
              <a:t>Sumário Executivo · Relatório de 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3505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Janeiro 2017 – Agosto 2018  |  ~100 mil pedidos  |  Dados reais anonimizados</a:t>
            </a:r>
            <a:endParaRPr lang="en-US" sz="11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920240" cy="1170432"/>
          </a:xfrm>
          <a:prstGeom prst="rect">
            <a:avLst/>
          </a:prstGeom>
          <a:solidFill>
            <a:srgbClr val="1B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3392424"/>
            <a:ext cx="1920240" cy="678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R$ 15,4M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016411"/>
            <a:ext cx="1920240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C8D8EA"/>
                </a:solidFill>
                <a:ea typeface="Calibri" pitchFamily="34" charset="-122"/>
                <a:cs typeface="Calibri" pitchFamily="34" charset="-120"/>
              </a:rPr>
              <a:t>Receita</a:t>
            </a:r>
            <a:r>
              <a:rPr lang="en-US" sz="900" dirty="0">
                <a:solidFill>
                  <a:srgbClr val="C8D8EA"/>
                </a:solidFill>
                <a:ea typeface="Calibri" pitchFamily="34" charset="-122"/>
                <a:cs typeface="Calibri" pitchFamily="34" charset="-120"/>
              </a:rPr>
              <a:t> Total*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337560"/>
            <a:ext cx="1920240" cy="1170432"/>
          </a:xfrm>
          <a:prstGeom prst="rect">
            <a:avLst/>
          </a:prstGeom>
          <a:solidFill>
            <a:srgbClr val="0A8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560320" y="3392424"/>
            <a:ext cx="1920240" cy="678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62,4%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4016411"/>
            <a:ext cx="1920240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ea typeface="Calibri" pitchFamily="34" charset="-122"/>
                <a:cs typeface="Calibri" pitchFamily="34" charset="-120"/>
              </a:rPr>
              <a:t>NPS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337560"/>
            <a:ext cx="1920240" cy="1170432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663440" y="3392424"/>
            <a:ext cx="1920240" cy="678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93,23%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4016411"/>
            <a:ext cx="1920240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ea typeface="Calibri" pitchFamily="34" charset="-122"/>
                <a:cs typeface="Calibri" pitchFamily="34" charset="-120"/>
              </a:rPr>
              <a:t>Entrega no Prazo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3337560"/>
            <a:ext cx="1920240" cy="1170432"/>
          </a:xfrm>
          <a:prstGeom prst="rect">
            <a:avLst/>
          </a:prstGeom>
          <a:solidFill>
            <a:srgbClr val="2E8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766560" y="3392424"/>
            <a:ext cx="1920240" cy="678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4,09 ★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4016411"/>
            <a:ext cx="1920240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ea typeface="Calibri" pitchFamily="34" charset="-122"/>
                <a:cs typeface="Calibri" pitchFamily="34" charset="-120"/>
              </a:rPr>
              <a:t>Avaliação Média</a:t>
            </a:r>
            <a:endParaRPr lang="en-US" sz="9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241F07E1-684B-2C7E-A00F-3D599F721AEF}"/>
              </a:ext>
            </a:extLst>
          </p:cNvPr>
          <p:cNvSpPr/>
          <p:nvPr/>
        </p:nvSpPr>
        <p:spPr>
          <a:xfrm>
            <a:off x="457200" y="4815963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*Para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melhor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compreensão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receitas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 ticket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médio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estão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sendo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considerados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apenas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pedidos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entregues</a:t>
            </a:r>
            <a:r>
              <a:rPr lang="en-US" sz="9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9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90FC891-5A57-C5FA-B5CD-763EF826B5A7}"/>
              </a:ext>
            </a:extLst>
          </p:cNvPr>
          <p:cNvSpPr/>
          <p:nvPr/>
        </p:nvSpPr>
        <p:spPr>
          <a:xfrm>
            <a:off x="457200" y="252766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0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Elaborado por: Bruno Conrad Augustin, Camila Dantas da Silva, Flávia Santana Marcolino, Lisa Roberta Souza Alves, Rodrigo Brandão</a:t>
            </a:r>
            <a:endParaRPr lang="en-US" sz="1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— KPIs Executivos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Jan/2017 – Ago/2018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0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Brasil · Dados reais anonimizados · Jan 2017 – Ago 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77240"/>
            <a:ext cx="2011680" cy="960120"/>
          </a:xfrm>
          <a:prstGeom prst="rect">
            <a:avLst/>
          </a:prstGeom>
          <a:solidFill>
            <a:srgbClr val="1B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01168" y="832104"/>
            <a:ext cx="2011680" cy="5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R$ 15,4M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" y="13341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Total*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777240"/>
            <a:ext cx="2011680" cy="960120"/>
          </a:xfrm>
          <a:prstGeom prst="rect">
            <a:avLst/>
          </a:prstGeom>
          <a:solidFill>
            <a:srgbClr val="2E8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395728" y="832104"/>
            <a:ext cx="2011680" cy="5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95728" y="13341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</a:t>
            </a:r>
            <a:r>
              <a:rPr lang="en-US" sz="900" dirty="0" err="1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0288" y="777240"/>
            <a:ext cx="2011680" cy="960120"/>
          </a:xfrm>
          <a:prstGeom prst="rect">
            <a:avLst/>
          </a:prstGeom>
          <a:solidFill>
            <a:srgbClr val="0A8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90288" y="832104"/>
            <a:ext cx="2011680" cy="5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96,48 Mil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90288" y="13341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Entregues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84848" y="777240"/>
            <a:ext cx="2011680" cy="960120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84848" y="832104"/>
            <a:ext cx="2011680" cy="5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99,2 Mil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84848" y="13341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" y="1828800"/>
            <a:ext cx="2011680" cy="960120"/>
          </a:xfrm>
          <a:prstGeom prst="rect">
            <a:avLst/>
          </a:prstGeom>
          <a:solidFill>
            <a:srgbClr val="0A8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01168" y="1883664"/>
            <a:ext cx="2011680" cy="5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01168" y="238567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(Excelente)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95728" y="1828800"/>
            <a:ext cx="2011680" cy="960120"/>
          </a:xfrm>
          <a:prstGeom prst="rect">
            <a:avLst/>
          </a:prstGeom>
          <a:solidFill>
            <a:srgbClr val="1B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395728" y="1883664"/>
            <a:ext cx="2011680" cy="5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 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395728" y="238567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Média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90288" y="1828800"/>
            <a:ext cx="2011680" cy="960120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90288" y="1883664"/>
            <a:ext cx="2011680" cy="5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93,23%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90288" y="238567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no Prazo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828800"/>
            <a:ext cx="2011680" cy="960120"/>
          </a:xfrm>
          <a:prstGeom prst="rect">
            <a:avLst/>
          </a:prstGeom>
          <a:solidFill>
            <a:srgbClr val="C47F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784848" y="1883664"/>
            <a:ext cx="2011680" cy="5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84848" y="238567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Médio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" y="3004452"/>
            <a:ext cx="45720" cy="658368"/>
          </a:xfrm>
          <a:prstGeom prst="rect">
            <a:avLst/>
          </a:prstGeom>
          <a:solidFill>
            <a:srgbClr val="0A8A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246888" y="3004452"/>
            <a:ext cx="8540496" cy="658368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65760" y="3004452"/>
            <a:ext cx="8540496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executiva: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combinação de receita crescente (+9x em 10 meses), NPS na faixa Excelente (&gt;50) e 93% de entregas no prazo posiciona a Olist como referência no e-commerce brasileiro. O principal risco é a concentração em SP (42%) e atrasos críticos no Nordeste (AL: 21%, MA: 17%).</a:t>
            </a:r>
            <a:endParaRPr lang="en-US" sz="950" dirty="0"/>
          </a:p>
        </p:txBody>
      </p:sp>
      <p:graphicFrame>
        <p:nvGraphicFramePr>
          <p:cNvPr id="38" name="Chart 0">
            <a:extLst>
              <a:ext uri="{FF2B5EF4-FFF2-40B4-BE49-F238E27FC236}">
                <a16:creationId xmlns:a16="http://schemas.microsoft.com/office/drawing/2014/main" id="{1739554B-A405-2864-5DA1-10ACF3F2D14D}"/>
              </a:ext>
            </a:extLst>
          </p:cNvPr>
          <p:cNvGraphicFramePr/>
          <p:nvPr/>
        </p:nvGraphicFramePr>
        <p:xfrm>
          <a:off x="201168" y="3703320"/>
          <a:ext cx="256032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 32">
            <a:extLst>
              <a:ext uri="{FF2B5EF4-FFF2-40B4-BE49-F238E27FC236}">
                <a16:creationId xmlns:a16="http://schemas.microsoft.com/office/drawing/2014/main" id="{E2355A7C-7F06-1DA8-9CBB-52E1A8EAF024}"/>
              </a:ext>
            </a:extLst>
          </p:cNvPr>
          <p:cNvSpPr/>
          <p:nvPr/>
        </p:nvSpPr>
        <p:spPr>
          <a:xfrm>
            <a:off x="201168" y="3703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96,5%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Entregues</a:t>
            </a:r>
            <a:endParaRPr lang="en-US" sz="900" dirty="0"/>
          </a:p>
        </p:txBody>
      </p:sp>
      <p:graphicFrame>
        <p:nvGraphicFramePr>
          <p:cNvPr id="41" name="Chart 2">
            <a:extLst>
              <a:ext uri="{FF2B5EF4-FFF2-40B4-BE49-F238E27FC236}">
                <a16:creationId xmlns:a16="http://schemas.microsoft.com/office/drawing/2014/main" id="{DBF334FE-9BB0-881A-E8AB-3D922D58C9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745031"/>
              </p:ext>
            </p:extLst>
          </p:nvPr>
        </p:nvGraphicFramePr>
        <p:xfrm>
          <a:off x="5669280" y="3754526"/>
          <a:ext cx="3127248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" name="Text 6">
            <a:extLst>
              <a:ext uri="{FF2B5EF4-FFF2-40B4-BE49-F238E27FC236}">
                <a16:creationId xmlns:a16="http://schemas.microsoft.com/office/drawing/2014/main" id="{327BBB1B-D43B-C944-142C-7296A22C5ED5}"/>
              </a:ext>
            </a:extLst>
          </p:cNvPr>
          <p:cNvSpPr/>
          <p:nvPr/>
        </p:nvSpPr>
        <p:spPr>
          <a:xfrm>
            <a:off x="128016" y="273314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*Para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melhor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compreensão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receitas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 ticket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médio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estão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sendo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considerados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apenas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pedidos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entregues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3" name="Chart 1">
            <a:extLst>
              <a:ext uri="{FF2B5EF4-FFF2-40B4-BE49-F238E27FC236}">
                <a16:creationId xmlns:a16="http://schemas.microsoft.com/office/drawing/2014/main" id="{44576A44-8815-EDA3-AD98-100D4E4A51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837836"/>
              </p:ext>
            </p:extLst>
          </p:nvPr>
        </p:nvGraphicFramePr>
        <p:xfrm>
          <a:off x="2834640" y="3674059"/>
          <a:ext cx="2834640" cy="1281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14D5D6C-3494-389A-B3C3-78A1B16847ED}"/>
              </a:ext>
            </a:extLst>
          </p:cNvPr>
          <p:cNvCxnSpPr/>
          <p:nvPr/>
        </p:nvCxnSpPr>
        <p:spPr>
          <a:xfrm>
            <a:off x="2760380" y="3703320"/>
            <a:ext cx="0" cy="11942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BFA1F40-0120-760E-931A-D9C140594F9B}"/>
              </a:ext>
            </a:extLst>
          </p:cNvPr>
          <p:cNvCxnSpPr/>
          <p:nvPr/>
        </p:nvCxnSpPr>
        <p:spPr>
          <a:xfrm>
            <a:off x="5669280" y="3703320"/>
            <a:ext cx="0" cy="11942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Comercial — Crescimento e Receita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0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Brasil · Dados reais anonimizados · Jan 2017 – Ago 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77240"/>
            <a:ext cx="2011680" cy="777240"/>
          </a:xfrm>
          <a:prstGeom prst="rect">
            <a:avLst/>
          </a:prstGeom>
          <a:solidFill>
            <a:srgbClr val="1B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0116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R$ 15,4M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777240"/>
            <a:ext cx="2011680" cy="777240"/>
          </a:xfrm>
          <a:prstGeom prst="rect">
            <a:avLst/>
          </a:prstGeom>
          <a:solidFill>
            <a:srgbClr val="2E8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39572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9572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0288" y="777240"/>
            <a:ext cx="2011680" cy="777240"/>
          </a:xfrm>
          <a:prstGeom prst="rect">
            <a:avLst/>
          </a:prstGeom>
          <a:solidFill>
            <a:srgbClr val="0066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9028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028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Cresc. 2S17 vs 1S17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84848" y="777240"/>
            <a:ext cx="2011680" cy="777240"/>
          </a:xfrm>
          <a:prstGeom prst="rect">
            <a:avLst/>
          </a:prstGeom>
          <a:solidFill>
            <a:srgbClr val="0066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8484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Nov/17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8484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Pico: R$1,15M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3772635958"/>
              </p:ext>
            </p:extLst>
          </p:nvPr>
        </p:nvGraphicFramePr>
        <p:xfrm>
          <a:off x="201168" y="1664208"/>
          <a:ext cx="5760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>
            <p:extLst>
              <p:ext uri="{D42A27DB-BD31-4B8C-83A1-F6EECF244321}">
                <p14:modId xmlns:p14="http://schemas.microsoft.com/office/powerpoint/2010/main" val="762775804"/>
              </p:ext>
            </p:extLst>
          </p:nvPr>
        </p:nvGraphicFramePr>
        <p:xfrm>
          <a:off x="6126480" y="1664208"/>
          <a:ext cx="2816352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201168" y="4114803"/>
            <a:ext cx="45720" cy="685800"/>
          </a:xfrm>
          <a:prstGeom prst="rect">
            <a:avLst/>
          </a:prstGeom>
          <a:solidFill>
            <a:srgbClr val="C47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246888" y="4114803"/>
            <a:ext cx="8695944" cy="685800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365760" y="4114803"/>
            <a:ext cx="8540496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2017: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Nov/17 registrou R$1,15M (+53,6% vs out/17) e ~7.289 pedidos. Jan/18 superou todos os meses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anteriores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Black Friday com R$1,08M — confirmando que a plataforma cruzou um limiar de escala permanente, não apenas sazonalidade.</a:t>
            </a:r>
            <a:endParaRPr lang="en-US" sz="95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52D0F291-2CB2-B9B6-6EC6-7F46E80C199C}"/>
              </a:ext>
            </a:extLst>
          </p:cNvPr>
          <p:cNvSpPr/>
          <p:nvPr/>
        </p:nvSpPr>
        <p:spPr>
          <a:xfrm>
            <a:off x="128016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*Para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melhor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compreensão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receitas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 ticket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médio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estão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sendo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considerados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apenas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pedidos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entregues</a:t>
            </a:r>
            <a:r>
              <a:rPr lang="en-US" sz="800" dirty="0">
                <a:solidFill>
                  <a:srgbClr val="6A8FA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Financeiro — Pagamentos e Parcelamento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0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Brasil · Dados reais anonimizados · Jan 2017 – Ago 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77240"/>
            <a:ext cx="2011680" cy="777240"/>
          </a:xfrm>
          <a:prstGeom prst="rect">
            <a:avLst/>
          </a:prstGeom>
          <a:solidFill>
            <a:srgbClr val="1B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0116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78,46%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Crédito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777240"/>
            <a:ext cx="2011680" cy="777240"/>
          </a:xfrm>
          <a:prstGeom prst="rect">
            <a:avLst/>
          </a:prstGeom>
          <a:solidFill>
            <a:srgbClr val="2E8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39572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9572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Bancário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0288" y="777240"/>
            <a:ext cx="2011680" cy="777240"/>
          </a:xfrm>
          <a:prstGeom prst="rect">
            <a:avLst/>
          </a:prstGeom>
          <a:solidFill>
            <a:srgbClr val="0A8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9028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R$ 414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028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em 10x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84848" y="777240"/>
            <a:ext cx="2011680" cy="777240"/>
          </a:xfrm>
          <a:prstGeom prst="rect">
            <a:avLst/>
          </a:prstGeom>
          <a:solidFill>
            <a:srgbClr val="C47F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8484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8484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10x vs 1x</a:t>
            </a:r>
            <a:endParaRPr lang="en-US" sz="900" dirty="0"/>
          </a:p>
        </p:txBody>
      </p:sp>
      <p:graphicFrame>
        <p:nvGraphicFramePr>
          <p:cNvPr id="20" name="Chart 1"/>
          <p:cNvGraphicFramePr/>
          <p:nvPr>
            <p:extLst>
              <p:ext uri="{D42A27DB-BD31-4B8C-83A1-F6EECF244321}">
                <p14:modId xmlns:p14="http://schemas.microsoft.com/office/powerpoint/2010/main" val="1973763904"/>
              </p:ext>
            </p:extLst>
          </p:nvPr>
        </p:nvGraphicFramePr>
        <p:xfrm>
          <a:off x="4572000" y="1673352"/>
          <a:ext cx="4370832" cy="2276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7"/>
          <p:cNvSpPr/>
          <p:nvPr/>
        </p:nvSpPr>
        <p:spPr>
          <a:xfrm>
            <a:off x="201168" y="4041648"/>
            <a:ext cx="45720" cy="822960"/>
          </a:xfrm>
          <a:prstGeom prst="rect">
            <a:avLst/>
          </a:prstGeom>
          <a:solidFill>
            <a:srgbClr val="2E8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246888" y="4041648"/>
            <a:ext cx="4251960" cy="822960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365760" y="4041648"/>
            <a:ext cx="4096512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(17,96%):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R$2,8M e maior risco de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(taxa de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~7%), converter parte para cartão via cashback de 3-5% pode melhorar fluxo de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impactar volume.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63440" y="4041648"/>
            <a:ext cx="45720" cy="822960"/>
          </a:xfrm>
          <a:prstGeom prst="rect">
            <a:avLst/>
          </a:prstGeom>
          <a:solidFill>
            <a:srgbClr val="C47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1"/>
          <p:cNvSpPr/>
          <p:nvPr/>
        </p:nvSpPr>
        <p:spPr>
          <a:xfrm>
            <a:off x="4709160" y="4041648"/>
            <a:ext cx="4233672" cy="822960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2"/>
          <p:cNvSpPr/>
          <p:nvPr/>
        </p:nvSpPr>
        <p:spPr>
          <a:xfrm>
            <a:off x="4828032" y="4041648"/>
            <a:ext cx="4078224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Parcelamento: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10x (R$414) é 3,3x maior que à vista (R$122). Campanhas de parcelamento sem juros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ticket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ticket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global.</a:t>
            </a:r>
            <a:endParaRPr lang="en-US" sz="950" dirty="0"/>
          </a:p>
        </p:txBody>
      </p:sp>
      <p:graphicFrame>
        <p:nvGraphicFramePr>
          <p:cNvPr id="28" name="Chart 1">
            <a:extLst>
              <a:ext uri="{FF2B5EF4-FFF2-40B4-BE49-F238E27FC236}">
                <a16:creationId xmlns:a16="http://schemas.microsoft.com/office/drawing/2014/main" id="{63F2AFC7-BA4C-1E63-8149-269555A264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8797727"/>
              </p:ext>
            </p:extLst>
          </p:nvPr>
        </p:nvGraphicFramePr>
        <p:xfrm>
          <a:off x="25473" y="1656912"/>
          <a:ext cx="4436799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Geográfica — Concentração e Oportunidade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0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Brasil · Dados reais anonimizados · Jan 2017 – Ago 2018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015909464"/>
              </p:ext>
            </p:extLst>
          </p:nvPr>
        </p:nvGraphicFramePr>
        <p:xfrm>
          <a:off x="201168" y="77724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822960"/>
            <a:ext cx="3273552" cy="713232"/>
          </a:xfrm>
          <a:prstGeom prst="rect">
            <a:avLst/>
          </a:prstGeom>
          <a:solidFill>
            <a:srgbClr val="F4F3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669280" y="822960"/>
            <a:ext cx="54864" cy="713232"/>
          </a:xfrm>
          <a:prstGeom prst="rect">
            <a:avLst/>
          </a:prstGeom>
          <a:solidFill>
            <a:srgbClr val="1B5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815584" y="82296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040880" y="82296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sozinho
</a:t>
            </a: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volume total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1645920"/>
            <a:ext cx="3273552" cy="713232"/>
          </a:xfrm>
          <a:prstGeom prst="rect">
            <a:avLst/>
          </a:prstGeom>
          <a:solidFill>
            <a:srgbClr val="F4F3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669280" y="1645920"/>
            <a:ext cx="54864" cy="713232"/>
          </a:xfrm>
          <a:prstGeom prst="rect">
            <a:avLst/>
          </a:prstGeom>
          <a:solidFill>
            <a:srgbClr val="2E8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815584" y="164592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64,5%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040880" y="16459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(SP+RJ+MG)
</a:t>
            </a: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regional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2468880"/>
            <a:ext cx="3273552" cy="713232"/>
          </a:xfrm>
          <a:prstGeom prst="rect">
            <a:avLst/>
          </a:prstGeom>
          <a:solidFill>
            <a:srgbClr val="F4F3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669280" y="2468880"/>
            <a:ext cx="54864" cy="713232"/>
          </a:xfrm>
          <a:prstGeom prst="rect">
            <a:avLst/>
          </a:prstGeom>
          <a:solidFill>
            <a:srgbClr val="A02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815584" y="246888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0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040880" y="24688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+ Nordeste
</a:t>
            </a: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da população BR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0" y="3291840"/>
            <a:ext cx="3273552" cy="713232"/>
          </a:xfrm>
          <a:prstGeom prst="rect">
            <a:avLst/>
          </a:prstGeom>
          <a:solidFill>
            <a:srgbClr val="F4F3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669280" y="3291840"/>
            <a:ext cx="54864" cy="713232"/>
          </a:xfrm>
          <a:prstGeom prst="rect">
            <a:avLst/>
          </a:prstGeom>
          <a:solidFill>
            <a:srgbClr val="C47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815584" y="329184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040880" y="329184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+ Sul
</a:t>
            </a: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concentrados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01168" y="4279392"/>
            <a:ext cx="45720" cy="585216"/>
          </a:xfrm>
          <a:prstGeom prst="rect">
            <a:avLst/>
          </a:prstGeom>
          <a:solidFill>
            <a:srgbClr val="0A8A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246888" y="4279392"/>
            <a:ext cx="8695944" cy="585216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365760" y="4279392"/>
            <a:ext cx="8540496" cy="5852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e Nordeste têm 35% da população e &lt;8% do volume. GO, DF e ES já aparecem no top 10 com volume 20x menor que SP — mercados com renda elevada e baixa penetração. A expansão exige investimento logístico prévio para viabilizar SLA competitivo.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&amp; SLA — Eficiência Operacional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0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Brasil · Dados reais anonimizados · Jan 2017 – Ago 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77240"/>
            <a:ext cx="2011680" cy="777240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0116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93,23%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no Prazo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777240"/>
            <a:ext cx="2011680" cy="777240"/>
          </a:xfrm>
          <a:prstGeom prst="rect">
            <a:avLst/>
          </a:prstGeom>
          <a:solidFill>
            <a:srgbClr val="A028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39572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6.535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9572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Atrasados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0288" y="777240"/>
            <a:ext cx="2011680" cy="777240"/>
          </a:xfrm>
          <a:prstGeom prst="rect">
            <a:avLst/>
          </a:prstGeom>
          <a:solidFill>
            <a:srgbClr val="1B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9028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028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Total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84848" y="777240"/>
            <a:ext cx="2011680" cy="777240"/>
          </a:xfrm>
          <a:prstGeom prst="rect">
            <a:avLst/>
          </a:prstGeom>
          <a:solidFill>
            <a:srgbClr val="C47F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8484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8484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Médio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2973154031"/>
              </p:ext>
            </p:extLst>
          </p:nvPr>
        </p:nvGraphicFramePr>
        <p:xfrm>
          <a:off x="201168" y="1664208"/>
          <a:ext cx="4846320" cy="1924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>
            <p:extLst>
              <p:ext uri="{D42A27DB-BD31-4B8C-83A1-F6EECF244321}">
                <p14:modId xmlns:p14="http://schemas.microsoft.com/office/powerpoint/2010/main" val="3667191096"/>
              </p:ext>
            </p:extLst>
          </p:nvPr>
        </p:nvGraphicFramePr>
        <p:xfrm>
          <a:off x="5212080" y="1664208"/>
          <a:ext cx="3730752" cy="1924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"/>
          <p:cNvGraphicFramePr/>
          <p:nvPr>
            <p:extLst>
              <p:ext uri="{D42A27DB-BD31-4B8C-83A1-F6EECF244321}">
                <p14:modId xmlns:p14="http://schemas.microsoft.com/office/powerpoint/2010/main" val="2060682083"/>
              </p:ext>
            </p:extLst>
          </p:nvPr>
        </p:nvGraphicFramePr>
        <p:xfrm>
          <a:off x="201168" y="3858768"/>
          <a:ext cx="484632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 17"/>
          <p:cNvSpPr/>
          <p:nvPr/>
        </p:nvSpPr>
        <p:spPr>
          <a:xfrm>
            <a:off x="201168" y="3692513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avaliação: -1,6 pontos por atraso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212080" y="3822192"/>
            <a:ext cx="45720" cy="1051560"/>
          </a:xfrm>
          <a:prstGeom prst="rect">
            <a:avLst/>
          </a:prstGeom>
          <a:solidFill>
            <a:srgbClr val="A02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5257800" y="3822192"/>
            <a:ext cx="3685032" cy="1051560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5376672" y="3822192"/>
            <a:ext cx="3529584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 crítico: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do lead time está no transporte (9,28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AL tem 21% de atraso. Cada pedido atrasado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 -1,6 pontos de avaliação — 6.535 (6,77%) pedidos atrasados representam um pool enorme de NPS perdido.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do Cliente — NPS e Reviews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0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Brasil · Dados reais anonimizados · Jan 2017 – Ago 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77240"/>
            <a:ext cx="2011680" cy="777240"/>
          </a:xfrm>
          <a:prstGeom prst="rect">
            <a:avLst/>
          </a:prstGeom>
          <a:solidFill>
            <a:srgbClr val="0A8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0116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(Excelente)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777240"/>
            <a:ext cx="2011680" cy="777240"/>
          </a:xfrm>
          <a:prstGeom prst="rect">
            <a:avLst/>
          </a:prstGeom>
          <a:solidFill>
            <a:srgbClr val="1B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39572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 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9572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Média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0288" y="777240"/>
            <a:ext cx="2011680" cy="777240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9028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76,1 Mil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028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Promotores (4-5★)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84848" y="777240"/>
            <a:ext cx="2011680" cy="777240"/>
          </a:xfrm>
          <a:prstGeom prst="rect">
            <a:avLst/>
          </a:prstGeom>
          <a:solidFill>
            <a:srgbClr val="A028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84848" y="832104"/>
            <a:ext cx="2011680" cy="4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14,49 Mil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84848" y="122803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Detratores (1-2★)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3275943865"/>
              </p:ext>
            </p:extLst>
          </p:nvPr>
        </p:nvGraphicFramePr>
        <p:xfrm>
          <a:off x="201168" y="1664208"/>
          <a:ext cx="4279392" cy="16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7"/>
          <p:cNvSpPr/>
          <p:nvPr/>
        </p:nvSpPr>
        <p:spPr>
          <a:xfrm>
            <a:off x="4480560" y="3301541"/>
            <a:ext cx="4315968" cy="502920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4572000" y="3301541"/>
            <a:ext cx="42976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NPS: </a:t>
            </a: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0–30% Razoável  ·  30–50% Bom  ·  </a:t>
            </a:r>
            <a:r>
              <a:rPr lang="en-US" sz="9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50–70% Excelente ← </a:t>
            </a:r>
            <a:r>
              <a:rPr lang="en-US" sz="900" b="1" dirty="0" err="1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r>
              <a:rPr lang="en-US" sz="9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62,4%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01168" y="3301541"/>
            <a:ext cx="45720" cy="502920"/>
          </a:xfrm>
          <a:prstGeom prst="rect">
            <a:avLst/>
          </a:prstGeom>
          <a:solidFill>
            <a:srgbClr val="A02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246888" y="3301541"/>
            <a:ext cx="4160520" cy="502920"/>
          </a:xfrm>
          <a:prstGeom prst="rect">
            <a:avLst/>
          </a:prstGeom>
          <a:solidFill>
            <a:srgbClr val="F4F3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365760" y="3301541"/>
            <a:ext cx="4005072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deram 5★, mas 11% deram 1★. Clientes com experiências extremas avaliam; neutros não. Os 11k detratores merecem investigação qualitativa.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201168" y="393746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★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01168" y="4147774"/>
            <a:ext cx="4206240" cy="164592"/>
          </a:xfrm>
          <a:prstGeom prst="rect">
            <a:avLst/>
          </a:prstGeom>
          <a:solidFill>
            <a:srgbClr val="EAF7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4"/>
          <p:cNvSpPr/>
          <p:nvPr/>
        </p:nvSpPr>
        <p:spPr>
          <a:xfrm>
            <a:off x="274320" y="414777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&amp; Musicais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414777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4,7★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01168" y="4330654"/>
            <a:ext cx="420624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7"/>
          <p:cNvSpPr/>
          <p:nvPr/>
        </p:nvSpPr>
        <p:spPr>
          <a:xfrm>
            <a:off x="274320" y="433065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Roupas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Infantojuvenis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474720" y="433065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4,5★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01168" y="4513534"/>
            <a:ext cx="4206240" cy="164592"/>
          </a:xfrm>
          <a:prstGeom prst="rect">
            <a:avLst/>
          </a:prstGeom>
          <a:solidFill>
            <a:srgbClr val="EAF7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0"/>
          <p:cNvSpPr/>
          <p:nvPr/>
        </p:nvSpPr>
        <p:spPr>
          <a:xfrm>
            <a:off x="274320" y="451353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474720" y="451353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4,5★</a:t>
            </a:r>
            <a:endParaRPr lang="en-US" sz="9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210E9348-6DB1-DA83-0148-3FF3AC43FDE6}"/>
              </a:ext>
            </a:extLst>
          </p:cNvPr>
          <p:cNvSpPr/>
          <p:nvPr/>
        </p:nvSpPr>
        <p:spPr>
          <a:xfrm>
            <a:off x="4480560" y="394660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★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99972EA0-8C15-B1C2-9843-7C764027308E}"/>
              </a:ext>
            </a:extLst>
          </p:cNvPr>
          <p:cNvSpPr/>
          <p:nvPr/>
        </p:nvSpPr>
        <p:spPr>
          <a:xfrm>
            <a:off x="4480560" y="4156918"/>
            <a:ext cx="4320000" cy="164592"/>
          </a:xfrm>
          <a:prstGeom prst="rect">
            <a:avLst/>
          </a:prstGeom>
          <a:solidFill>
            <a:srgbClr val="C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2A7196DF-BE3E-9F48-916D-9A4C45B205C1}"/>
              </a:ext>
            </a:extLst>
          </p:cNvPr>
          <p:cNvSpPr/>
          <p:nvPr/>
        </p:nvSpPr>
        <p:spPr>
          <a:xfrm>
            <a:off x="4553712" y="415691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900" dirty="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9D5E3F2B-FFC3-8723-7E27-F4E6C66D69ED}"/>
              </a:ext>
            </a:extLst>
          </p:cNvPr>
          <p:cNvSpPr/>
          <p:nvPr/>
        </p:nvSpPr>
        <p:spPr>
          <a:xfrm>
            <a:off x="7885728" y="415691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2,5★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7E65E9E-BB7A-B723-2820-A161DF6C30DA}"/>
              </a:ext>
            </a:extLst>
          </p:cNvPr>
          <p:cNvSpPr/>
          <p:nvPr/>
        </p:nvSpPr>
        <p:spPr>
          <a:xfrm>
            <a:off x="4480560" y="4339798"/>
            <a:ext cx="420624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D96A21AE-A9B3-8A85-E8C6-DAB377E7710F}"/>
              </a:ext>
            </a:extLst>
          </p:cNvPr>
          <p:cNvSpPr/>
          <p:nvPr/>
        </p:nvSpPr>
        <p:spPr>
          <a:xfrm>
            <a:off x="4553712" y="433979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Móveis</a:t>
            </a: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</a:t>
            </a:r>
            <a:endParaRPr lang="en-US" sz="900" dirty="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857B1C8F-AAD2-EA9E-6720-46E0F3D2D9E1}"/>
              </a:ext>
            </a:extLst>
          </p:cNvPr>
          <p:cNvSpPr/>
          <p:nvPr/>
        </p:nvSpPr>
        <p:spPr>
          <a:xfrm>
            <a:off x="7885728" y="433979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3,6★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89C23422-AFD2-5923-3B37-F96398A94D5D}"/>
              </a:ext>
            </a:extLst>
          </p:cNvPr>
          <p:cNvSpPr/>
          <p:nvPr/>
        </p:nvSpPr>
        <p:spPr>
          <a:xfrm>
            <a:off x="4480560" y="4522678"/>
            <a:ext cx="4320000" cy="164592"/>
          </a:xfrm>
          <a:prstGeom prst="rect">
            <a:avLst/>
          </a:prstGeom>
          <a:solidFill>
            <a:srgbClr val="C000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4EE91CF8-FD50-67B1-1C82-8BB159C2A5D6}"/>
              </a:ext>
            </a:extLst>
          </p:cNvPr>
          <p:cNvSpPr/>
          <p:nvPr/>
        </p:nvSpPr>
        <p:spPr>
          <a:xfrm>
            <a:off x="4553712" y="452267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Roupas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masculinas</a:t>
            </a: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femininas</a:t>
            </a:r>
            <a:endParaRPr lang="en-US" sz="900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859DAC52-7D1B-598A-7F05-611660906777}"/>
              </a:ext>
            </a:extLst>
          </p:cNvPr>
          <p:cNvSpPr/>
          <p:nvPr/>
        </p:nvSpPr>
        <p:spPr>
          <a:xfrm>
            <a:off x="7885728" y="452267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3,7★</a:t>
            </a:r>
            <a:endParaRPr lang="en-US" sz="900" dirty="0">
              <a:solidFill>
                <a:srgbClr val="C00000"/>
              </a:solidFill>
            </a:endParaRPr>
          </a:p>
        </p:txBody>
      </p:sp>
      <p:graphicFrame>
        <p:nvGraphicFramePr>
          <p:cNvPr id="46" name="Chart 2">
            <a:extLst>
              <a:ext uri="{FF2B5EF4-FFF2-40B4-BE49-F238E27FC236}">
                <a16:creationId xmlns:a16="http://schemas.microsoft.com/office/drawing/2014/main" id="{3DDECE3F-352B-69D2-58CA-0821FB3E5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5886671"/>
              </p:ext>
            </p:extLst>
          </p:nvPr>
        </p:nvGraphicFramePr>
        <p:xfrm>
          <a:off x="4775662" y="1664208"/>
          <a:ext cx="4020866" cy="1579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Estratégicos — Conexões entre Pilares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cruzada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0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Brasil · Dados reais anonimizados · Jan 2017 – Ago 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77240"/>
            <a:ext cx="8741664" cy="749808"/>
          </a:xfrm>
          <a:prstGeom prst="rect">
            <a:avLst/>
          </a:prstGeom>
          <a:solidFill>
            <a:srgbClr val="F4F3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01168" y="777240"/>
            <a:ext cx="54864" cy="749808"/>
          </a:xfrm>
          <a:prstGeom prst="rect">
            <a:avLst/>
          </a:prstGeom>
          <a:solidFill>
            <a:srgbClr val="A02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84048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A0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SLA → NPS: O custo real do atraso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033272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6.535 pedidos atrasados × -1,6 pontos = pool de NPS perdido. Converter 30% dos atrasos em entregas no prazo elevaria o NPS de 62,4% para ~65,5% sem nenhuma mudança de produto.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1618488"/>
            <a:ext cx="8741664" cy="749808"/>
          </a:xfrm>
          <a:prstGeom prst="rect">
            <a:avLst/>
          </a:prstGeom>
          <a:solidFill>
            <a:srgbClr val="F4F3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01168" y="1618488"/>
            <a:ext cx="54864" cy="749808"/>
          </a:xfrm>
          <a:prstGeom prst="rect">
            <a:avLst/>
          </a:prstGeom>
          <a:solidFill>
            <a:srgbClr val="C47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4048" y="16184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Geografia → Logística: O paradoxo do Nordeste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18745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está no top 8 com 3.380 pedidos, mas tem 12% de atraso. Nordeste tem demanda latente mas SLA ruim cria ciclo vicioso: atraso → nota baixa → menor conversão → menos pedidos.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2459736"/>
            <a:ext cx="8741664" cy="749808"/>
          </a:xfrm>
          <a:prstGeom prst="rect">
            <a:avLst/>
          </a:prstGeom>
          <a:solidFill>
            <a:srgbClr val="F4F3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01168" y="2459736"/>
            <a:ext cx="54864" cy="749808"/>
          </a:xfrm>
          <a:prstGeom prst="rect">
            <a:avLst/>
          </a:prstGeom>
          <a:solidFill>
            <a:srgbClr val="2E8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84048" y="24597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2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Categoria → Satisfação: Perfil de risco logístico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271576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2,5★ (pior do dataset) sofre com alta expectativa técnica.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Móveis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(3,6★) com avaria no transporte. Candidatos prioritários a exigências de embalagem especial dos sellers.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3331743"/>
            <a:ext cx="8741664" cy="749808"/>
          </a:xfrm>
          <a:prstGeom prst="rect">
            <a:avLst/>
          </a:prstGeom>
          <a:solidFill>
            <a:srgbClr val="F4F3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01168" y="3331743"/>
            <a:ext cx="54864" cy="749808"/>
          </a:xfrm>
          <a:prstGeom prst="rect">
            <a:avLst/>
          </a:prstGeom>
          <a:solidFill>
            <a:srgbClr val="1B5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84048" y="3331743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Concentração → Risco: SP como ponto único de falha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3587775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42% dos pedidos em SP, qualquer disruption logística local impacta quase metade da receita. Diversificação geográfica é gestão de risco, não apenas oportunidade de crescimento.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 — Plano de Ação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e impacto esperado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0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Brasil · Dados reais anonimizados · Jan 2017 – Ago 2018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77240"/>
            <a:ext cx="8741664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01168" y="777240"/>
            <a:ext cx="54864" cy="731520"/>
          </a:xfrm>
          <a:prstGeom prst="rect">
            <a:avLst/>
          </a:prstGeom>
          <a:solidFill>
            <a:srgbClr val="A02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0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" y="7772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atrasos no Nordeste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1014984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com transportadoras regionais + CD em Fortaleza/Salvador. AL: 21% → meta &lt;10%.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914400"/>
            <a:ext cx="2194560" cy="457200"/>
          </a:xfrm>
          <a:prstGeom prst="rect">
            <a:avLst/>
          </a:prstGeom>
          <a:solidFill>
            <a:srgbClr val="0A8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8368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+3 a +5 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1600200"/>
            <a:ext cx="8741664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01168" y="1600200"/>
            <a:ext cx="54864" cy="731520"/>
          </a:xfrm>
          <a:prstGeom prst="rect">
            <a:avLst/>
          </a:prstGeom>
          <a:solidFill>
            <a:srgbClr val="A02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0040" y="160020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0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" y="16002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boleto → cartão de crédito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1837944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3-5% para migração de meio de pagamento. Reduz inadimplência e melhora previsibilidade de caixa.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1737360"/>
            <a:ext cx="2194560" cy="457200"/>
          </a:xfrm>
          <a:prstGeom prst="rect">
            <a:avLst/>
          </a:prstGeom>
          <a:solidFill>
            <a:srgbClr val="0A8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58368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+5%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" y="2435634"/>
            <a:ext cx="8741664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01168" y="2435634"/>
            <a:ext cx="54864" cy="731520"/>
          </a:xfrm>
          <a:prstGeom prst="rect">
            <a:avLst/>
          </a:prstGeom>
          <a:solidFill>
            <a:srgbClr val="C47F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20040" y="2435634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MÉDIA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" y="243563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qualidade por categoria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3000" y="267337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Embalagem reforçada, guia de tamanho e devolução simplificada para </a:t>
            </a:r>
            <a:r>
              <a:rPr lang="en-US" sz="9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Móveis</a:t>
            </a: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(3,8★) e Roupas </a:t>
            </a:r>
            <a:r>
              <a:rPr lang="en-US" sz="9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masculinas</a:t>
            </a: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femininas</a:t>
            </a: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(3,7★).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83680" y="2572794"/>
            <a:ext cx="2194560" cy="457200"/>
          </a:xfrm>
          <a:prstGeom prst="rect">
            <a:avLst/>
          </a:prstGeom>
          <a:solidFill>
            <a:srgbClr val="C47F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583680" y="257279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+2 pts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1168" y="3258594"/>
            <a:ext cx="8741664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201168" y="3258594"/>
            <a:ext cx="54864" cy="731520"/>
          </a:xfrm>
          <a:prstGeom prst="rect">
            <a:avLst/>
          </a:prstGeom>
          <a:solidFill>
            <a:srgbClr val="0A8A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20040" y="3258594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BAIXA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43000" y="325859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Norte e Centro-Oeste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43000" y="349633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GO, DF e ES já no top 10 com volume 20x menor que SP. Renda elevada e baixa penetração do e-commerce regional.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3395754"/>
            <a:ext cx="2194560" cy="457200"/>
          </a:xfrm>
          <a:prstGeom prst="rect">
            <a:avLst/>
          </a:prstGeom>
          <a:solidFill>
            <a:srgbClr val="1B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583680" y="339575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+8-12%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A8A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Executiva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Olist está bem posicionada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capturar o crescimento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e-commerce brasileiro.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474720" cy="36576"/>
          </a:xfrm>
          <a:prstGeom prst="rect">
            <a:avLst/>
          </a:prstGeom>
          <a:solidFill>
            <a:srgbClr val="0A8A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Receita R$15,4M com crescimento de 9x em 10 meses — base sólida para expansão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24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NPS 62,4% (Excelente) e 4,09★ em 99k reviews — base de clientes satisfeitos e fidelizável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99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6.535 atrasos com média de 10,6 dias — principal risco de churn e de NPS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75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SP com 42% dos pedidos — concentração que exige diversificação urgente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investimento prioritário em logística regional é o catalisador de NPS e receita com maior ROI disponível.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1352</Words>
  <Application>Microsoft Office PowerPoint</Application>
  <PresentationFormat>On-screen Show (16:9)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Brasil — Sumário Executivo</dc:title>
  <dc:subject>PptxGenJS Presentation</dc:subject>
  <dc:creator>PptxGenJS</dc:creator>
  <cp:lastModifiedBy>Rodrigo Brandão</cp:lastModifiedBy>
  <cp:revision>16</cp:revision>
  <dcterms:created xsi:type="dcterms:W3CDTF">2026-04-26T21:19:48Z</dcterms:created>
  <dcterms:modified xsi:type="dcterms:W3CDTF">2026-05-03T18:24:43Z</dcterms:modified>
</cp:coreProperties>
</file>